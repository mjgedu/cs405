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28" autoAdjust="0"/>
    <p:restoredTop sz="94660"/>
  </p:normalViewPr>
  <p:slideViewPr>
    <p:cSldViewPr snapToGrid="0">
      <p:cViewPr varScale="1">
        <p:scale>
          <a:sx n="150" d="100"/>
          <a:sy n="150" d="100"/>
        </p:scale>
        <p:origin x="930"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A3189F94-2B93-4BC2-5832-7EC18ECF264C}"/>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11E130E-2DA1-38C4-003E-48ED4A9E53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967B6B47-0075-CF7D-8D37-B57ADEF2FA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40928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BC0D163A-6C40-BB31-3293-3398FBE1811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BC312D86-14D2-9AB4-EF40-5FE0AAA9B7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D281B372-B651-B844-71B4-4364A2D57E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3838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17936855-960A-10CE-86B7-92F095F6853B}"/>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F496E5EF-53D0-C92E-BE00-C9644DD55F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0FC7DB45-12C7-3BF0-F964-967823298E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6771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hyperlink" Target="https://owasp.org/" TargetMode="External"/><Relationship Id="rId3" Type="http://schemas.openxmlformats.org/officeDocument/2006/relationships/notesSlide" Target="../notesSlides/notesSlide13.xml"/><Relationship Id="rId7" Type="http://schemas.openxmlformats.org/officeDocument/2006/relationships/hyperlink" Target="https://github.com/google/googletest" TargetMode="Externa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hyperlink" Target="https://cppcheck.sourceforge.io/manual.html" TargetMode="External"/><Relationship Id="rId5" Type="http://schemas.openxmlformats.org/officeDocument/2006/relationships/hyperlink" Target="https://clang-analyzer.llvm.org/" TargetMode="External"/><Relationship Id="rId4" Type="http://schemas.openxmlformats.org/officeDocument/2006/relationships/hyperlink" Target="https://www.jenkins.io/doc/book/pipeline/" TargetMode="External"/><Relationship Id="rId9"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3.png"/><Relationship Id="rId4" Type="http://schemas.openxmlformats.org/officeDocument/2006/relationships/hyperlink" Target="https://www.csoonline.com/article/567795/marriott-data-breach-faq-how-did-it-happen-and-what-was-the-impac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Mac Grier</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2869371" y="229643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1353373839"/>
              </p:ext>
            </p:extLst>
          </p:nvPr>
        </p:nvGraphicFramePr>
        <p:xfrm>
          <a:off x="2054300" y="2057401"/>
          <a:ext cx="7835225" cy="368953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STR-002-C</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MEM-050-CPP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ERR-051-CPP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EXP-050-CPP</a:t>
                      </a:r>
                      <a:endParaRPr sz="13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STD-001-CPP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EXP-053-CPP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STR-002-C</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MEM-050-CPP</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MSC-050-CPP</a:t>
                      </a:r>
                      <a:endParaRPr sz="14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INT-050-CPP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DCL-003-CPP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ERR-051-CPP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MSC-052-CPP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EXP-050-CPP</a:t>
                      </a:r>
                      <a:endParaRPr sz="13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STD-001-CPP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INT-050-CPP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EXP-053-CPP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DCL-003-CPP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MSC-050-CPP</a:t>
                      </a:r>
                    </a:p>
                    <a:p>
                      <a:pPr marL="0" marR="0" lvl="0" indent="0" algn="ctr" rtl="0">
                        <a:lnSpc>
                          <a:spcPct val="100000"/>
                        </a:lnSpc>
                        <a:spcBef>
                          <a:spcPts val="0"/>
                        </a:spcBef>
                        <a:spcAft>
                          <a:spcPts val="0"/>
                        </a:spcAft>
                        <a:buClr>
                          <a:srgbClr val="000000"/>
                        </a:buClr>
                        <a:buSzPts val="3600"/>
                        <a:buFont typeface="Arial"/>
                        <a:buNone/>
                      </a:pPr>
                      <a:r>
                        <a:rPr lang="en-US" sz="1300" u="none" strike="noStrike" cap="none" dirty="0">
                          <a:solidFill>
                            <a:srgbClr val="FFD966"/>
                          </a:solidFill>
                        </a:rPr>
                        <a:t>MSC-052-CPP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54"/>
    </mc:Choice>
    <mc:Fallback xmlns="">
      <p:transition spd="slow" advTm="305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1841500"/>
            <a:ext cx="10398274" cy="4597400"/>
          </a:xfrm>
          <a:prstGeom prst="rect">
            <a:avLst/>
          </a:prstGeom>
          <a:noFill/>
          <a:ln>
            <a:noFill/>
          </a:ln>
        </p:spPr>
        <p:txBody>
          <a:bodyPr spcFirstLastPara="1" wrap="square" lIns="91425" tIns="45700" rIns="91425" bIns="45700" anchor="t" anchorCtr="0">
            <a:normAutofit fontScale="85000" lnSpcReduction="20000"/>
          </a:bodyPr>
          <a:lstStyle/>
          <a:p>
            <a:pPr lvl="0" indent="-457200" algn="l" rtl="0">
              <a:lnSpc>
                <a:spcPct val="90000"/>
              </a:lnSpc>
              <a:spcBef>
                <a:spcPts val="0"/>
              </a:spcBef>
              <a:spcAft>
                <a:spcPts val="0"/>
              </a:spcAft>
              <a:buClr>
                <a:schemeClr val="lt1"/>
              </a:buClr>
              <a:buSzPts val="2200"/>
              <a:buFont typeface="+mj-lt"/>
              <a:buAutoNum type="arabicPeriod"/>
            </a:pPr>
            <a:r>
              <a:rPr lang="en-US" b="1" dirty="0"/>
              <a:t>Validate Input Data</a:t>
            </a:r>
          </a:p>
          <a:p>
            <a:pPr lvl="1" indent="-457200">
              <a:spcBef>
                <a:spcPts val="0"/>
              </a:spcBef>
              <a:buSzPts val="2200"/>
            </a:pPr>
            <a:r>
              <a:rPr lang="en-US" dirty="0"/>
              <a:t>INT-050-CPP, STR-053-CPP, STR-002-C, </a:t>
            </a:r>
          </a:p>
          <a:p>
            <a:pPr lvl="0" indent="-457200" algn="l" rtl="0">
              <a:lnSpc>
                <a:spcPct val="90000"/>
              </a:lnSpc>
              <a:spcBef>
                <a:spcPts val="0"/>
              </a:spcBef>
              <a:spcAft>
                <a:spcPts val="0"/>
              </a:spcAft>
              <a:buClr>
                <a:schemeClr val="lt1"/>
              </a:buClr>
              <a:buSzPts val="2200"/>
              <a:buFont typeface="+mj-lt"/>
              <a:buAutoNum type="arabicPeriod"/>
            </a:pPr>
            <a:r>
              <a:rPr lang="en-US" b="1" dirty="0"/>
              <a:t>Heed Compiler Warnings</a:t>
            </a:r>
          </a:p>
          <a:p>
            <a:pPr lvl="1" indent="-457200">
              <a:spcBef>
                <a:spcPts val="0"/>
              </a:spcBef>
              <a:buSzPts val="2200"/>
            </a:pPr>
            <a:r>
              <a:rPr lang="en-US" dirty="0"/>
              <a:t>EXP-053-CPP, DLC-003-CPP, MSC-052-CPP, EXP-050-CPP</a:t>
            </a:r>
          </a:p>
          <a:p>
            <a:pPr lvl="0" indent="-457200" algn="l" rtl="0">
              <a:lnSpc>
                <a:spcPct val="90000"/>
              </a:lnSpc>
              <a:spcBef>
                <a:spcPts val="0"/>
              </a:spcBef>
              <a:spcAft>
                <a:spcPts val="0"/>
              </a:spcAft>
              <a:buClr>
                <a:schemeClr val="lt1"/>
              </a:buClr>
              <a:buSzPts val="2200"/>
              <a:buFont typeface="+mj-lt"/>
              <a:buAutoNum type="arabicPeriod"/>
            </a:pPr>
            <a:r>
              <a:rPr lang="en-US" b="1" dirty="0"/>
              <a:t>Architect and Design for Security Policies</a:t>
            </a:r>
          </a:p>
          <a:p>
            <a:pPr lvl="1" indent="-457200">
              <a:spcBef>
                <a:spcPts val="0"/>
              </a:spcBef>
              <a:buSzPts val="2200"/>
            </a:pPr>
            <a:r>
              <a:rPr lang="en-US" dirty="0"/>
              <a:t>ERR-051-CPP, MSC-050-CPP, </a:t>
            </a:r>
          </a:p>
          <a:p>
            <a:pPr lvl="0" indent="-457200" algn="l" rtl="0">
              <a:lnSpc>
                <a:spcPct val="90000"/>
              </a:lnSpc>
              <a:spcBef>
                <a:spcPts val="0"/>
              </a:spcBef>
              <a:spcAft>
                <a:spcPts val="0"/>
              </a:spcAft>
              <a:buClr>
                <a:schemeClr val="lt1"/>
              </a:buClr>
              <a:buSzPts val="2200"/>
              <a:buFont typeface="+mj-lt"/>
              <a:buAutoNum type="arabicPeriod"/>
            </a:pPr>
            <a:r>
              <a:rPr lang="en-US" b="1" dirty="0"/>
              <a:t>Keep It Simple</a:t>
            </a:r>
          </a:p>
          <a:p>
            <a:pPr lvl="1" indent="-457200">
              <a:spcBef>
                <a:spcPts val="0"/>
              </a:spcBef>
              <a:buSzPts val="2200"/>
            </a:pPr>
            <a:r>
              <a:rPr lang="en-US" dirty="0"/>
              <a:t>MEM-050-CPP, EXP-050-CPP</a:t>
            </a:r>
          </a:p>
          <a:p>
            <a:pPr lvl="0" indent="-457200" algn="l" rtl="0">
              <a:lnSpc>
                <a:spcPct val="90000"/>
              </a:lnSpc>
              <a:spcBef>
                <a:spcPts val="0"/>
              </a:spcBef>
              <a:spcAft>
                <a:spcPts val="0"/>
              </a:spcAft>
              <a:buClr>
                <a:schemeClr val="lt1"/>
              </a:buClr>
              <a:buSzPts val="2200"/>
              <a:buFont typeface="+mj-lt"/>
              <a:buAutoNum type="arabicPeriod"/>
            </a:pPr>
            <a:r>
              <a:rPr lang="en-US" b="1" dirty="0"/>
              <a:t>Default Deny</a:t>
            </a:r>
          </a:p>
          <a:p>
            <a:pPr lvl="1" indent="-457200">
              <a:spcBef>
                <a:spcPts val="0"/>
              </a:spcBef>
              <a:buSzPts val="2200"/>
            </a:pPr>
            <a:r>
              <a:rPr lang="en-US" dirty="0"/>
              <a:t>EXP-053-CPP</a:t>
            </a:r>
          </a:p>
          <a:p>
            <a:pPr lvl="0" indent="-457200" algn="l" rtl="0">
              <a:lnSpc>
                <a:spcPct val="90000"/>
              </a:lnSpc>
              <a:spcBef>
                <a:spcPts val="0"/>
              </a:spcBef>
              <a:spcAft>
                <a:spcPts val="0"/>
              </a:spcAft>
              <a:buClr>
                <a:schemeClr val="lt1"/>
              </a:buClr>
              <a:buSzPts val="2200"/>
              <a:buFont typeface="+mj-lt"/>
              <a:buAutoNum type="arabicPeriod"/>
            </a:pPr>
            <a:r>
              <a:rPr lang="en-US" b="1" dirty="0"/>
              <a:t>Adhere to the Principle of Least Privilege</a:t>
            </a:r>
          </a:p>
          <a:p>
            <a:pPr lvl="1" indent="-457200">
              <a:spcBef>
                <a:spcPts val="0"/>
              </a:spcBef>
              <a:buSzPts val="2200"/>
            </a:pPr>
            <a:r>
              <a:rPr lang="en-US" dirty="0"/>
              <a:t>STR-002-CPP</a:t>
            </a:r>
          </a:p>
          <a:p>
            <a:pPr lvl="0" indent="-457200" algn="l" rtl="0">
              <a:lnSpc>
                <a:spcPct val="90000"/>
              </a:lnSpc>
              <a:spcBef>
                <a:spcPts val="0"/>
              </a:spcBef>
              <a:spcAft>
                <a:spcPts val="0"/>
              </a:spcAft>
              <a:buClr>
                <a:schemeClr val="lt1"/>
              </a:buClr>
              <a:buSzPts val="2200"/>
              <a:buFont typeface="+mj-lt"/>
              <a:buAutoNum type="arabicPeriod"/>
            </a:pPr>
            <a:r>
              <a:rPr lang="en-US" b="1" dirty="0"/>
              <a:t>Sanitize Data Sent to Other Systems</a:t>
            </a:r>
          </a:p>
          <a:p>
            <a:pPr lvl="1" indent="-457200">
              <a:spcBef>
                <a:spcPts val="0"/>
              </a:spcBef>
              <a:buSzPts val="2200"/>
            </a:pPr>
            <a:r>
              <a:rPr lang="en-US" dirty="0"/>
              <a:t>STR-002-C, </a:t>
            </a:r>
          </a:p>
          <a:p>
            <a:pPr lvl="0" indent="-457200" algn="l" rtl="0">
              <a:lnSpc>
                <a:spcPct val="90000"/>
              </a:lnSpc>
              <a:spcBef>
                <a:spcPts val="0"/>
              </a:spcBef>
              <a:spcAft>
                <a:spcPts val="0"/>
              </a:spcAft>
              <a:buClr>
                <a:schemeClr val="lt1"/>
              </a:buClr>
              <a:buSzPts val="2200"/>
              <a:buFont typeface="+mj-lt"/>
              <a:buAutoNum type="arabicPeriod"/>
            </a:pPr>
            <a:r>
              <a:rPr lang="en-US" b="1" dirty="0"/>
              <a:t>Practice Defense in Depth</a:t>
            </a:r>
          </a:p>
          <a:p>
            <a:pPr lvl="1" indent="-457200">
              <a:spcBef>
                <a:spcPts val="0"/>
              </a:spcBef>
              <a:buSzPts val="2200"/>
            </a:pPr>
            <a:r>
              <a:rPr lang="en-US" dirty="0"/>
              <a:t>STR-053-CPP, STR-002-C, ERR-051-CPP, </a:t>
            </a:r>
          </a:p>
          <a:p>
            <a:pPr lvl="0" indent="-457200" algn="l" rtl="0">
              <a:lnSpc>
                <a:spcPct val="90000"/>
              </a:lnSpc>
              <a:spcBef>
                <a:spcPts val="0"/>
              </a:spcBef>
              <a:spcAft>
                <a:spcPts val="0"/>
              </a:spcAft>
              <a:buClr>
                <a:schemeClr val="lt1"/>
              </a:buClr>
              <a:buSzPts val="2200"/>
              <a:buFont typeface="+mj-lt"/>
              <a:buAutoNum type="arabicPeriod"/>
            </a:pPr>
            <a:r>
              <a:rPr lang="en-US" b="1" dirty="0"/>
              <a:t>Use Effective Quality Assurance Techniques</a:t>
            </a:r>
          </a:p>
          <a:p>
            <a:pPr lvl="1" indent="-457200">
              <a:spcBef>
                <a:spcPts val="0"/>
              </a:spcBef>
              <a:buSzPts val="2200"/>
            </a:pPr>
            <a:r>
              <a:rPr lang="en-US" dirty="0"/>
              <a:t>INT-050-CPP, EXP-053-CPP, STR-053-CPP, MEM-050-CPP, DLC-003-CPP, ERR-051-CPP, MSC-050-CPP, MSC-052-CPP, EXP-050-CPP</a:t>
            </a:r>
          </a:p>
          <a:p>
            <a:pPr lvl="0" indent="-457200" algn="l" rtl="0">
              <a:lnSpc>
                <a:spcPct val="90000"/>
              </a:lnSpc>
              <a:spcBef>
                <a:spcPts val="0"/>
              </a:spcBef>
              <a:spcAft>
                <a:spcPts val="0"/>
              </a:spcAft>
              <a:buClr>
                <a:schemeClr val="lt1"/>
              </a:buClr>
              <a:buSzPts val="2200"/>
              <a:buFont typeface="+mj-lt"/>
              <a:buAutoNum type="arabicPeriod"/>
            </a:pPr>
            <a:r>
              <a:rPr lang="en-US" b="1" dirty="0"/>
              <a:t>Adopt a Secure Coding Standard</a:t>
            </a:r>
          </a:p>
          <a:p>
            <a:pPr lvl="1" indent="-457200">
              <a:spcBef>
                <a:spcPts val="0"/>
              </a:spcBef>
              <a:buSzPts val="2200"/>
            </a:pPr>
            <a:r>
              <a:rPr lang="en-US" dirty="0"/>
              <a:t>INT-050-CPP, EXP-053-CPP, STR-053-CPP, STR-002-C, MEM-050-CPP, DLC-003-CPP, ERR-051-CPP, MSC-050-CPP, MSC-052-CPP, EXP-050-CPP</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3815715"/>
          </a:xfrm>
          <a:prstGeom prst="rect">
            <a:avLst/>
          </a:prstGeom>
          <a:noFill/>
          <a:ln>
            <a:noFill/>
          </a:ln>
        </p:spPr>
        <p:txBody>
          <a:bodyPr spcFirstLastPara="1" wrap="square" lIns="91425" tIns="45700" rIns="91425" bIns="45700" anchor="t" anchorCtr="0">
            <a:normAutofit/>
          </a:bodyPr>
          <a:lstStyle/>
          <a:p>
            <a:pPr indent="-457200">
              <a:spcBef>
                <a:spcPts val="0"/>
              </a:spcBef>
              <a:buSzPts val="2000"/>
              <a:buFont typeface="+mj-lt"/>
              <a:buAutoNum type="arabicPeriod"/>
            </a:pPr>
            <a:r>
              <a:rPr lang="en-US" dirty="0"/>
              <a:t>Sanitize data passed to complex subsystems.</a:t>
            </a:r>
          </a:p>
          <a:p>
            <a:pPr indent="-457200">
              <a:spcBef>
                <a:spcPts val="0"/>
              </a:spcBef>
              <a:buSzPts val="2000"/>
              <a:buFont typeface="+mj-lt"/>
              <a:buAutoNum type="arabicPeriod"/>
            </a:pPr>
            <a:r>
              <a:rPr lang="en-US" dirty="0"/>
              <a:t>Do not access freed memory</a:t>
            </a:r>
          </a:p>
          <a:p>
            <a:pPr indent="-457200">
              <a:spcBef>
                <a:spcPts val="0"/>
              </a:spcBef>
              <a:buSzPts val="2000"/>
              <a:buFont typeface="+mj-lt"/>
              <a:buAutoNum type="arabicPeriod"/>
            </a:pPr>
            <a:r>
              <a:rPr lang="en-US" dirty="0"/>
              <a:t>Do not read uninitialized memory.</a:t>
            </a:r>
          </a:p>
          <a:p>
            <a:pPr indent="-457200">
              <a:spcBef>
                <a:spcPts val="0"/>
              </a:spcBef>
              <a:buSzPts val="2000"/>
              <a:buFont typeface="+mj-lt"/>
              <a:buAutoNum type="arabicPeriod"/>
            </a:pPr>
            <a:r>
              <a:rPr lang="en-US" dirty="0"/>
              <a:t>Do not depend on the order of evaluation for side effects.</a:t>
            </a:r>
          </a:p>
          <a:p>
            <a:pPr indent="-457200">
              <a:spcBef>
                <a:spcPts val="0"/>
              </a:spcBef>
              <a:buSzPts val="2000"/>
              <a:buFont typeface="+mj-lt"/>
              <a:buAutoNum type="arabicPeriod"/>
            </a:pPr>
            <a:r>
              <a:rPr lang="en-US" dirty="0"/>
              <a:t>Range check element access</a:t>
            </a:r>
          </a:p>
          <a:p>
            <a:pPr indent="-457200">
              <a:spcBef>
                <a:spcPts val="0"/>
              </a:spcBef>
              <a:buSzPts val="2000"/>
              <a:buFont typeface="+mj-lt"/>
              <a:buAutoNum type="arabicPeriod"/>
            </a:pPr>
            <a:r>
              <a:rPr lang="en-US" dirty="0"/>
              <a:t>Do not use std::rand() for generating pseudorandom numbers</a:t>
            </a:r>
          </a:p>
          <a:p>
            <a:pPr lvl="0" indent="-457200" algn="l" rtl="0">
              <a:lnSpc>
                <a:spcPct val="90000"/>
              </a:lnSpc>
              <a:spcBef>
                <a:spcPts val="0"/>
              </a:spcBef>
              <a:spcAft>
                <a:spcPts val="0"/>
              </a:spcAft>
              <a:buClr>
                <a:schemeClr val="lt1"/>
              </a:buClr>
              <a:buSzPts val="2000"/>
              <a:buFont typeface="+mj-lt"/>
              <a:buAutoNum type="arabicPeriod"/>
            </a:pPr>
            <a:r>
              <a:rPr lang="en-US" dirty="0"/>
              <a:t>Do not cast to an out-of-range enumeration.</a:t>
            </a:r>
          </a:p>
          <a:p>
            <a:pPr indent="-457200">
              <a:spcBef>
                <a:spcPts val="0"/>
              </a:spcBef>
              <a:buSzPts val="2000"/>
              <a:buFont typeface="+mj-lt"/>
              <a:buAutoNum type="arabicPeriod"/>
            </a:pPr>
            <a:r>
              <a:rPr lang="en-US" dirty="0"/>
              <a:t>Handle all exceptions</a:t>
            </a:r>
          </a:p>
          <a:p>
            <a:pPr indent="-457200">
              <a:spcBef>
                <a:spcPts val="0"/>
              </a:spcBef>
              <a:buSzPts val="2000"/>
              <a:buFont typeface="+mj-lt"/>
              <a:buAutoNum type="arabicPeriod"/>
            </a:pPr>
            <a:r>
              <a:rPr lang="en-US" dirty="0"/>
              <a:t>Value-returning functions must return a value from all exit paths</a:t>
            </a:r>
          </a:p>
          <a:p>
            <a:pPr lvl="0" indent="-457200" algn="l" rtl="0">
              <a:lnSpc>
                <a:spcPct val="90000"/>
              </a:lnSpc>
              <a:spcBef>
                <a:spcPts val="0"/>
              </a:spcBef>
              <a:spcAft>
                <a:spcPts val="0"/>
              </a:spcAft>
              <a:buClr>
                <a:schemeClr val="lt1"/>
              </a:buClr>
              <a:buSzPts val="2000"/>
              <a:buFont typeface="+mj-lt"/>
              <a:buAutoNum type="arabicPeriod"/>
            </a:pPr>
            <a:r>
              <a:rPr lang="en-US" dirty="0"/>
              <a:t>Use a static assertion to test the value of a constant expression</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Encryption at Rest</a:t>
            </a:r>
          </a:p>
          <a:p>
            <a:pPr marL="685800" lvl="1" indent="-228600">
              <a:spcBef>
                <a:spcPts val="0"/>
              </a:spcBef>
              <a:buSzPts val="2000"/>
            </a:pPr>
            <a:r>
              <a:rPr lang="en-US" sz="1800" dirty="0"/>
              <a:t>Stored data is considered at rest and needs to be encrypted. Doing this insures that in the event of the data being stolen it is incredibly hard or impossible to read it.</a:t>
            </a:r>
          </a:p>
          <a:p>
            <a:pPr marL="228600" lvl="0" indent="-228600" algn="l" rtl="0">
              <a:lnSpc>
                <a:spcPct val="90000"/>
              </a:lnSpc>
              <a:spcBef>
                <a:spcPts val="0"/>
              </a:spcBef>
              <a:spcAft>
                <a:spcPts val="0"/>
              </a:spcAft>
              <a:buClr>
                <a:schemeClr val="lt1"/>
              </a:buClr>
              <a:buSzPts val="2000"/>
              <a:buChar char="•"/>
            </a:pPr>
            <a:r>
              <a:rPr lang="en-US" sz="2000" dirty="0"/>
              <a:t>Encryption at Flight</a:t>
            </a:r>
          </a:p>
          <a:p>
            <a:pPr marL="685800" lvl="1" indent="-228600">
              <a:spcBef>
                <a:spcPts val="0"/>
              </a:spcBef>
              <a:buSzPts val="2000"/>
            </a:pPr>
            <a:r>
              <a:rPr lang="en-US" sz="1800" dirty="0"/>
              <a:t>Data that is being communicated through a network or the web is considered at flight. That data must be encrypted, and a secure channel must be established between the sender and the recipient client that confirms identities and transmits encryption methods so that the recipient can decrypt the data.</a:t>
            </a:r>
          </a:p>
          <a:p>
            <a:pPr marL="228600" lvl="0" indent="-228600" algn="l" rtl="0">
              <a:lnSpc>
                <a:spcPct val="90000"/>
              </a:lnSpc>
              <a:spcBef>
                <a:spcPts val="0"/>
              </a:spcBef>
              <a:spcAft>
                <a:spcPts val="0"/>
              </a:spcAft>
              <a:buClr>
                <a:schemeClr val="lt1"/>
              </a:buClr>
              <a:buSzPts val="2000"/>
              <a:buChar char="•"/>
            </a:pPr>
            <a:r>
              <a:rPr lang="en-US" sz="2000" dirty="0"/>
              <a:t>Encryption in Use</a:t>
            </a:r>
          </a:p>
          <a:p>
            <a:pPr marL="685800" lvl="1" indent="-228600">
              <a:spcBef>
                <a:spcPts val="0"/>
              </a:spcBef>
              <a:buSzPts val="2000"/>
            </a:pPr>
            <a:r>
              <a:rPr lang="en-US" sz="1800" dirty="0"/>
              <a:t>Data that is being actively used in operations is considered in use. While it is in use, encryption still needs to be done to secure the data in case it is exposed and intercepted. Encryption techniques should be employed even if they slow down operations.</a:t>
            </a:r>
            <a:endParaRPr sz="18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2400" dirty="0"/>
              <a:t>Authentication</a:t>
            </a:r>
          </a:p>
          <a:p>
            <a:pPr marL="685800" lvl="1" indent="-228600">
              <a:spcBef>
                <a:spcPts val="0"/>
              </a:spcBef>
              <a:buSzPts val="2400"/>
            </a:pPr>
            <a:r>
              <a:rPr lang="en-US" sz="2200" dirty="0"/>
              <a:t>Users are identified typically through a login system. Identifying users is important to ensure that data is not accessed improperly and lost, altered, or stolen.</a:t>
            </a:r>
          </a:p>
          <a:p>
            <a:pPr marL="228600" lvl="0" indent="-228600" algn="l" rtl="0">
              <a:lnSpc>
                <a:spcPct val="90000"/>
              </a:lnSpc>
              <a:spcBef>
                <a:spcPts val="0"/>
              </a:spcBef>
              <a:spcAft>
                <a:spcPts val="0"/>
              </a:spcAft>
              <a:buClr>
                <a:schemeClr val="lt1"/>
              </a:buClr>
              <a:buSzPts val="2400"/>
              <a:buChar char="•"/>
            </a:pPr>
            <a:r>
              <a:rPr lang="en-US" sz="2400" dirty="0"/>
              <a:t>Authorization</a:t>
            </a:r>
          </a:p>
          <a:p>
            <a:pPr marL="685800" lvl="1" indent="-228600">
              <a:spcBef>
                <a:spcPts val="0"/>
              </a:spcBef>
              <a:buSzPts val="2400"/>
            </a:pPr>
            <a:r>
              <a:rPr lang="en-US" sz="2200" dirty="0"/>
              <a:t>What actions a user can take and what data they can access based on a set of permissions or roles. Those permissions or roles decide for example if a user can read a file or delete it.</a:t>
            </a:r>
          </a:p>
          <a:p>
            <a:pPr marL="228600" lvl="0" indent="-228600" algn="l" rtl="0">
              <a:lnSpc>
                <a:spcPct val="90000"/>
              </a:lnSpc>
              <a:spcBef>
                <a:spcPts val="0"/>
              </a:spcBef>
              <a:spcAft>
                <a:spcPts val="0"/>
              </a:spcAft>
              <a:buClr>
                <a:schemeClr val="lt1"/>
              </a:buClr>
              <a:buSzPts val="2400"/>
              <a:buChar char="•"/>
            </a:pPr>
            <a:r>
              <a:rPr lang="en-US" sz="2400" dirty="0"/>
              <a:t>Accounting</a:t>
            </a:r>
          </a:p>
          <a:p>
            <a:pPr marL="685800" lvl="1" indent="-228600">
              <a:spcBef>
                <a:spcPts val="0"/>
              </a:spcBef>
              <a:buSzPts val="2400"/>
            </a:pPr>
            <a:r>
              <a:rPr lang="en-US" dirty="0"/>
              <a:t>Tracking the actions of users is done both for system security and for maintenance. User activity like login attempts, data accessed, and commands ran are recorded and can be accessed by administrators and system auditors.</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Resizing Increases Collection Size:</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3A2EEF5C-6C8D-4571-4960-B6A58C9C2362}"/>
              </a:ext>
            </a:extLst>
          </p:cNvPr>
          <p:cNvPicPr>
            <a:picLocks noChangeAspect="1"/>
          </p:cNvPicPr>
          <p:nvPr/>
        </p:nvPicPr>
        <p:blipFill>
          <a:blip r:embed="rId5"/>
          <a:stretch>
            <a:fillRect/>
          </a:stretch>
        </p:blipFill>
        <p:spPr>
          <a:xfrm>
            <a:off x="685800" y="2774108"/>
            <a:ext cx="6162675" cy="2865104"/>
          </a:xfrm>
          <a:prstGeom prst="rect">
            <a:avLst/>
          </a:prstGeom>
        </p:spPr>
      </p:pic>
      <p:pic>
        <p:nvPicPr>
          <p:cNvPr id="6" name="Picture 5">
            <a:extLst>
              <a:ext uri="{FF2B5EF4-FFF2-40B4-BE49-F238E27FC236}">
                <a16:creationId xmlns:a16="http://schemas.microsoft.com/office/drawing/2014/main" id="{01D3747C-623E-0A5D-DE6A-A3E1D2691D8A}"/>
              </a:ext>
            </a:extLst>
          </p:cNvPr>
          <p:cNvPicPr>
            <a:picLocks noChangeAspect="1"/>
          </p:cNvPicPr>
          <p:nvPr/>
        </p:nvPicPr>
        <p:blipFill>
          <a:blip r:embed="rId6"/>
          <a:stretch>
            <a:fillRect/>
          </a:stretch>
        </p:blipFill>
        <p:spPr>
          <a:xfrm>
            <a:off x="6943725" y="3774348"/>
            <a:ext cx="4467225" cy="864624"/>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9E931529-0D2C-2865-6856-616A7366A7A7}"/>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DE1C25F-26AD-9E9E-50A6-D15DEABD13D7}"/>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a:extLst>
              <a:ext uri="{FF2B5EF4-FFF2-40B4-BE49-F238E27FC236}">
                <a16:creationId xmlns:a16="http://schemas.microsoft.com/office/drawing/2014/main" id="{C60B4A26-9E96-D288-81DD-A41F2B03661B}"/>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Empty on Create:</a:t>
            </a:r>
          </a:p>
        </p:txBody>
      </p:sp>
      <p:pic>
        <p:nvPicPr>
          <p:cNvPr id="197" name="Google Shape;197;g9504e29505_0_0" descr="Green Pace logo">
            <a:extLst>
              <a:ext uri="{FF2B5EF4-FFF2-40B4-BE49-F238E27FC236}">
                <a16:creationId xmlns:a16="http://schemas.microsoft.com/office/drawing/2014/main" id="{C3AA2E7B-ED49-FE99-45D6-9D1E774566E7}"/>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0E0D24C3-6211-A59E-F910-6F309094E2A6}"/>
              </a:ext>
            </a:extLst>
          </p:cNvPr>
          <p:cNvPicPr>
            <a:picLocks noChangeAspect="1"/>
          </p:cNvPicPr>
          <p:nvPr/>
        </p:nvPicPr>
        <p:blipFill>
          <a:blip r:embed="rId5"/>
          <a:stretch>
            <a:fillRect/>
          </a:stretch>
        </p:blipFill>
        <p:spPr>
          <a:xfrm>
            <a:off x="685800" y="2920605"/>
            <a:ext cx="6258798" cy="2572109"/>
          </a:xfrm>
          <a:prstGeom prst="rect">
            <a:avLst/>
          </a:prstGeom>
        </p:spPr>
      </p:pic>
      <p:pic>
        <p:nvPicPr>
          <p:cNvPr id="5" name="Picture 4">
            <a:extLst>
              <a:ext uri="{FF2B5EF4-FFF2-40B4-BE49-F238E27FC236}">
                <a16:creationId xmlns:a16="http://schemas.microsoft.com/office/drawing/2014/main" id="{8FF521E2-4FBC-1231-3D3D-77F7615A8056}"/>
              </a:ext>
            </a:extLst>
          </p:cNvPr>
          <p:cNvPicPr>
            <a:picLocks noChangeAspect="1"/>
          </p:cNvPicPr>
          <p:nvPr/>
        </p:nvPicPr>
        <p:blipFill>
          <a:blip r:embed="rId6"/>
          <a:stretch>
            <a:fillRect/>
          </a:stretch>
        </p:blipFill>
        <p:spPr>
          <a:xfrm>
            <a:off x="7096228" y="4013760"/>
            <a:ext cx="4258341" cy="385798"/>
          </a:xfrm>
          <a:prstGeom prst="rect">
            <a:avLst/>
          </a:prstGeom>
        </p:spPr>
      </p:pic>
    </p:spTree>
    <p:custDataLst>
      <p:tags r:id="rId1"/>
    </p:custDataLst>
    <p:extLst>
      <p:ext uri="{BB962C8B-B14F-4D97-AF65-F5344CB8AC3E}">
        <p14:creationId xmlns:p14="http://schemas.microsoft.com/office/powerpoint/2010/main" val="3772274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385BBA09-E9ED-B9CE-F3AF-3FD8C2BE43F8}"/>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67B8F3CC-06DA-9CEF-D272-8BCB598CC6F3}"/>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a:extLst>
              <a:ext uri="{FF2B5EF4-FFF2-40B4-BE49-F238E27FC236}">
                <a16:creationId xmlns:a16="http://schemas.microsoft.com/office/drawing/2014/main" id="{7D0049DF-5BD9-E0F2-8478-9A6B9C55874A}"/>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Reserve Beyond Max Size:</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435E46AF-84B2-2ECC-39CD-AE1EB79BAD42}"/>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EFE1A84E-549F-F2D0-F809-EABB7E156048}"/>
              </a:ext>
            </a:extLst>
          </p:cNvPr>
          <p:cNvPicPr>
            <a:picLocks noChangeAspect="1"/>
          </p:cNvPicPr>
          <p:nvPr/>
        </p:nvPicPr>
        <p:blipFill>
          <a:blip r:embed="rId5"/>
          <a:stretch>
            <a:fillRect/>
          </a:stretch>
        </p:blipFill>
        <p:spPr>
          <a:xfrm>
            <a:off x="909769" y="3061943"/>
            <a:ext cx="10372462" cy="1374014"/>
          </a:xfrm>
          <a:prstGeom prst="rect">
            <a:avLst/>
          </a:prstGeom>
        </p:spPr>
      </p:pic>
      <p:pic>
        <p:nvPicPr>
          <p:cNvPr id="5" name="Picture 4">
            <a:extLst>
              <a:ext uri="{FF2B5EF4-FFF2-40B4-BE49-F238E27FC236}">
                <a16:creationId xmlns:a16="http://schemas.microsoft.com/office/drawing/2014/main" id="{A5458731-20E5-4C67-ED4B-9AA4823C234E}"/>
              </a:ext>
            </a:extLst>
          </p:cNvPr>
          <p:cNvPicPr>
            <a:picLocks noChangeAspect="1"/>
          </p:cNvPicPr>
          <p:nvPr/>
        </p:nvPicPr>
        <p:blipFill>
          <a:blip r:embed="rId6"/>
          <a:stretch>
            <a:fillRect/>
          </a:stretch>
        </p:blipFill>
        <p:spPr>
          <a:xfrm>
            <a:off x="2342626" y="4690557"/>
            <a:ext cx="7506748" cy="495369"/>
          </a:xfrm>
          <a:prstGeom prst="rect">
            <a:avLst/>
          </a:prstGeom>
        </p:spPr>
      </p:pic>
    </p:spTree>
    <p:custDataLst>
      <p:tags r:id="rId1"/>
    </p:custDataLst>
    <p:extLst>
      <p:ext uri="{BB962C8B-B14F-4D97-AF65-F5344CB8AC3E}">
        <p14:creationId xmlns:p14="http://schemas.microsoft.com/office/powerpoint/2010/main" val="1718082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7562B3C-F494-072E-F4AF-D4511893A8F4}"/>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CB28808-0CCE-337B-9598-9E725E934545}"/>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a:extLst>
              <a:ext uri="{FF2B5EF4-FFF2-40B4-BE49-F238E27FC236}">
                <a16:creationId xmlns:a16="http://schemas.microsoft.com/office/drawing/2014/main" id="{CB81FDE5-1EEB-32DF-B965-8ED6D23AB538}"/>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Reserve Increases Capacity Not Size:</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110CD852-67DE-6CCC-EA66-82343CD7B8F0}"/>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F2D78F0C-79BA-7D90-79B0-8BED9793F8EF}"/>
              </a:ext>
            </a:extLst>
          </p:cNvPr>
          <p:cNvPicPr>
            <a:picLocks noChangeAspect="1"/>
          </p:cNvPicPr>
          <p:nvPr/>
        </p:nvPicPr>
        <p:blipFill>
          <a:blip r:embed="rId5"/>
          <a:stretch>
            <a:fillRect/>
          </a:stretch>
        </p:blipFill>
        <p:spPr>
          <a:xfrm>
            <a:off x="7001285" y="4046150"/>
            <a:ext cx="4441415" cy="286913"/>
          </a:xfrm>
          <a:prstGeom prst="rect">
            <a:avLst/>
          </a:prstGeom>
        </p:spPr>
      </p:pic>
      <p:pic>
        <p:nvPicPr>
          <p:cNvPr id="5" name="Picture 4">
            <a:extLst>
              <a:ext uri="{FF2B5EF4-FFF2-40B4-BE49-F238E27FC236}">
                <a16:creationId xmlns:a16="http://schemas.microsoft.com/office/drawing/2014/main" id="{2ACF8D09-CDE0-3672-1AD9-A45AFEADE67D}"/>
              </a:ext>
            </a:extLst>
          </p:cNvPr>
          <p:cNvPicPr>
            <a:picLocks noChangeAspect="1"/>
          </p:cNvPicPr>
          <p:nvPr/>
        </p:nvPicPr>
        <p:blipFill>
          <a:blip r:embed="rId6"/>
          <a:stretch>
            <a:fillRect/>
          </a:stretch>
        </p:blipFill>
        <p:spPr>
          <a:xfrm>
            <a:off x="685800" y="3035091"/>
            <a:ext cx="6203950" cy="2541993"/>
          </a:xfrm>
          <a:prstGeom prst="rect">
            <a:avLst/>
          </a:prstGeom>
        </p:spPr>
      </p:pic>
    </p:spTree>
    <p:custDataLst>
      <p:tags r:id="rId1"/>
    </p:custDataLst>
    <p:extLst>
      <p:ext uri="{BB962C8B-B14F-4D97-AF65-F5344CB8AC3E}">
        <p14:creationId xmlns:p14="http://schemas.microsoft.com/office/powerpoint/2010/main" val="376332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rPr lang="en-US" sz="1600" dirty="0"/>
              <a:t>The </a:t>
            </a:r>
            <a:r>
              <a:rPr lang="en-US" sz="1600" dirty="0" err="1"/>
              <a:t>DevSecOps</a:t>
            </a:r>
            <a:r>
              <a:rPr lang="en-US" sz="1600" dirty="0"/>
              <a:t> pipeline uses tools throughout development</a:t>
            </a:r>
          </a:p>
          <a:p>
            <a:pPr marL="1143000" lvl="2" indent="-228600">
              <a:spcBef>
                <a:spcPts val="0"/>
              </a:spcBef>
              <a:buSzPts val="2000"/>
            </a:pPr>
            <a:r>
              <a:rPr lang="en-US" sz="1600" dirty="0"/>
              <a:t>In preproduction, the pipeline has steps to design and test</a:t>
            </a:r>
          </a:p>
          <a:p>
            <a:pPr marL="1143000" lvl="2" indent="-228600">
              <a:spcBef>
                <a:spcPts val="0"/>
              </a:spcBef>
              <a:buSzPts val="2000"/>
            </a:pPr>
            <a:r>
              <a:rPr lang="en-US" sz="1600" dirty="0"/>
              <a:t>In production, the pipeline has steps for implementing, monitoring, and maintaining the software</a:t>
            </a:r>
          </a:p>
          <a:p>
            <a:pPr marL="1143000" lvl="2" indent="-228600">
              <a:spcBef>
                <a:spcPts val="0"/>
              </a:spcBef>
              <a:buSzPts val="2000"/>
            </a:pPr>
            <a:endParaRPr lang="en-US" sz="1400" dirty="0"/>
          </a:p>
          <a:p>
            <a:pPr marL="914400" lvl="2" indent="0">
              <a:spcBef>
                <a:spcPts val="0"/>
              </a:spcBef>
              <a:buSzPts val="2000"/>
              <a:buNone/>
            </a:pPr>
            <a:endParaRPr sz="1400" dirty="0"/>
          </a:p>
          <a:p>
            <a:pPr marL="685800" lvl="1" indent="-228600" algn="l" rtl="0">
              <a:lnSpc>
                <a:spcPct val="90000"/>
              </a:lnSpc>
              <a:spcBef>
                <a:spcPts val="500"/>
              </a:spcBef>
              <a:spcAft>
                <a:spcPts val="0"/>
              </a:spcAft>
              <a:buClr>
                <a:schemeClr val="lt1"/>
              </a:buClr>
              <a:buSzPts val="2000"/>
              <a:buChar char="•"/>
            </a:pPr>
            <a:r>
              <a:rPr lang="en-US" sz="1600" dirty="0"/>
              <a:t>Tools Used:</a:t>
            </a:r>
          </a:p>
          <a:p>
            <a:pPr marL="1143000" lvl="2" indent="-228600">
              <a:buSzPts val="2000"/>
            </a:pPr>
            <a:r>
              <a:rPr lang="en-US" sz="1400" dirty="0"/>
              <a:t>Jenkins: CI/CD pipeline </a:t>
            </a:r>
            <a:r>
              <a:rPr lang="en-US" sz="1400" dirty="0">
                <a:hlinkClick r:id="rId4"/>
              </a:rPr>
              <a:t>https://www.jenkins.io/doc/book/pipeline/</a:t>
            </a:r>
            <a:r>
              <a:rPr lang="en-US" sz="1400" dirty="0"/>
              <a:t> </a:t>
            </a:r>
          </a:p>
          <a:p>
            <a:pPr marL="1143000" lvl="2" indent="-228600">
              <a:buSzPts val="2000"/>
            </a:pPr>
            <a:r>
              <a:rPr lang="en-US" sz="1400" dirty="0"/>
              <a:t>Clang: Compiler front-end </a:t>
            </a:r>
            <a:r>
              <a:rPr lang="en-US" sz="1400" dirty="0">
                <a:hlinkClick r:id="rId5"/>
              </a:rPr>
              <a:t>https://clang-analyzer.llvm.org/</a:t>
            </a:r>
            <a:endParaRPr lang="en-US" sz="1400" dirty="0"/>
          </a:p>
          <a:p>
            <a:pPr marL="1143000" lvl="2" indent="-228600">
              <a:buSzPts val="2000"/>
            </a:pPr>
            <a:r>
              <a:rPr lang="en-US" sz="1400" dirty="0" err="1"/>
              <a:t>CPPCheck</a:t>
            </a:r>
            <a:r>
              <a:rPr lang="en-US" sz="1400" dirty="0"/>
              <a:t>: Static code analysis tool </a:t>
            </a:r>
            <a:r>
              <a:rPr lang="en-US" sz="1400" dirty="0">
                <a:hlinkClick r:id="rId6"/>
              </a:rPr>
              <a:t>https://cppcheck.sourceforge.io/manual.html</a:t>
            </a:r>
            <a:r>
              <a:rPr lang="en-US" sz="1400" dirty="0"/>
              <a:t> </a:t>
            </a:r>
          </a:p>
          <a:p>
            <a:pPr marL="1143000" lvl="2" indent="-228600">
              <a:buSzPts val="2000"/>
            </a:pPr>
            <a:r>
              <a:rPr lang="en-US" sz="1400" dirty="0" err="1"/>
              <a:t>GoogleTest</a:t>
            </a:r>
            <a:r>
              <a:rPr lang="en-US" sz="1400" dirty="0"/>
              <a:t>: Unit tests for C++ </a:t>
            </a:r>
            <a:r>
              <a:rPr lang="en-US" sz="1400" dirty="0">
                <a:hlinkClick r:id="rId7"/>
              </a:rPr>
              <a:t>https://github.com/google/googletest</a:t>
            </a:r>
            <a:r>
              <a:rPr lang="en-US" sz="1400" dirty="0"/>
              <a:t> </a:t>
            </a:r>
          </a:p>
          <a:p>
            <a:pPr marL="1143000" lvl="2" indent="-228600">
              <a:buSzPts val="2000"/>
            </a:pPr>
            <a:r>
              <a:rPr lang="en-US" sz="1400" dirty="0"/>
              <a:t>OWASP: Application security testing: </a:t>
            </a:r>
            <a:r>
              <a:rPr lang="en-US" sz="1400" dirty="0">
                <a:hlinkClick r:id="rId8"/>
              </a:rPr>
              <a:t>https://owasp.org/</a:t>
            </a:r>
            <a:r>
              <a:rPr lang="en-US" sz="1400" dirty="0"/>
              <a:t> </a:t>
            </a:r>
          </a:p>
          <a:p>
            <a:pPr marL="1143000" lvl="2" indent="-228600">
              <a:buSzPts val="2000"/>
            </a:pPr>
            <a:endParaRPr sz="1400" dirty="0"/>
          </a:p>
        </p:txBody>
      </p:sp>
      <p:pic>
        <p:nvPicPr>
          <p:cNvPr id="211" name="Google Shape;211;p10" descr="Green Pace logo"/>
          <p:cNvPicPr preferRelativeResize="0"/>
          <p:nvPr/>
        </p:nvPicPr>
        <p:blipFill>
          <a:blip r:embed="rId9">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000"/>
              <a:buChar char="•"/>
            </a:pPr>
            <a:r>
              <a:rPr lang="en-US" sz="2000" dirty="0"/>
              <a:t>Should we act now?</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Implementing security needs to happen </a:t>
            </a:r>
            <a:br>
              <a:rPr lang="en-US" sz="2000" dirty="0"/>
            </a:br>
            <a:r>
              <a:rPr lang="en-US" sz="2000" dirty="0"/>
              <a:t>in the design and planning stage</a:t>
            </a:r>
          </a:p>
          <a:p>
            <a:pPr marL="0" lvl="0" indent="0" algn="l" rtl="0">
              <a:lnSpc>
                <a:spcPct val="90000"/>
              </a:lnSpc>
              <a:spcBef>
                <a:spcPts val="0"/>
              </a:spcBef>
              <a:spcAft>
                <a:spcPts val="0"/>
              </a:spcAft>
              <a:buClr>
                <a:schemeClr val="lt1"/>
              </a:buClr>
              <a:buSzPts val="2000"/>
              <a:buNone/>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Risks:</a:t>
            </a:r>
          </a:p>
          <a:p>
            <a:pPr marL="685800" lvl="1" indent="-228600">
              <a:spcBef>
                <a:spcPts val="0"/>
              </a:spcBef>
              <a:buSzPts val="2000"/>
            </a:pPr>
            <a:r>
              <a:rPr lang="en-US" sz="1800" dirty="0"/>
              <a:t>Harm to customers</a:t>
            </a:r>
          </a:p>
          <a:p>
            <a:pPr marL="685800" lvl="1" indent="-228600">
              <a:spcBef>
                <a:spcPts val="0"/>
              </a:spcBef>
              <a:buSzPts val="2000"/>
            </a:pPr>
            <a:r>
              <a:rPr lang="en-US" sz="1800" dirty="0"/>
              <a:t>Harm to consumer sentiment</a:t>
            </a:r>
          </a:p>
          <a:p>
            <a:pPr marL="685800" lvl="1" indent="-228600">
              <a:spcBef>
                <a:spcPts val="0"/>
              </a:spcBef>
              <a:buSzPts val="2000"/>
            </a:pPr>
            <a:r>
              <a:rPr lang="en-US" sz="1800" dirty="0"/>
              <a:t>Liability for damages</a:t>
            </a:r>
          </a:p>
          <a:p>
            <a:pPr marL="685800" lvl="1" indent="-228600">
              <a:spcBef>
                <a:spcPts val="0"/>
              </a:spcBef>
              <a:buSzPts val="2000"/>
            </a:pPr>
            <a:r>
              <a:rPr lang="en-US" sz="1800" dirty="0"/>
              <a:t>Fines for lack of mitigation practices</a:t>
            </a:r>
          </a:p>
          <a:p>
            <a:pPr marL="457200" lvl="1" indent="0">
              <a:spcBef>
                <a:spcPts val="0"/>
              </a:spcBef>
              <a:buSzPts val="2000"/>
              <a:buNone/>
            </a:pPr>
            <a:endParaRPr lang="en-US" sz="1800" dirty="0"/>
          </a:p>
          <a:p>
            <a:pPr marL="228600" lvl="0" indent="-228600" algn="l" rtl="0">
              <a:lnSpc>
                <a:spcPct val="90000"/>
              </a:lnSpc>
              <a:spcBef>
                <a:spcPts val="0"/>
              </a:spcBef>
              <a:spcAft>
                <a:spcPts val="0"/>
              </a:spcAft>
              <a:buClr>
                <a:schemeClr val="lt1"/>
              </a:buClr>
              <a:buSzPts val="2000"/>
              <a:buChar char="•"/>
            </a:pPr>
            <a:r>
              <a:rPr lang="en-US" sz="2000" dirty="0"/>
              <a:t>Benefits:</a:t>
            </a:r>
          </a:p>
          <a:p>
            <a:pPr marL="685800" lvl="1" indent="-228600">
              <a:spcBef>
                <a:spcPts val="0"/>
              </a:spcBef>
              <a:buSzPts val="2000"/>
            </a:pPr>
            <a:r>
              <a:rPr lang="en-US" sz="1800" dirty="0"/>
              <a:t>Mitigates risk of damage</a:t>
            </a:r>
          </a:p>
          <a:p>
            <a:pPr marL="685800" lvl="1" indent="-228600">
              <a:spcBef>
                <a:spcPts val="0"/>
              </a:spcBef>
              <a:buSzPts val="2000"/>
            </a:pPr>
            <a:r>
              <a:rPr lang="en-US" sz="1800" dirty="0"/>
              <a:t>Easier to implement</a:t>
            </a:r>
          </a:p>
          <a:p>
            <a:pPr marL="685800" lvl="1" indent="-228600">
              <a:spcBef>
                <a:spcPts val="0"/>
              </a:spcBef>
              <a:buSzPts val="2000"/>
            </a:pPr>
            <a:r>
              <a:rPr lang="en-US" sz="1800" dirty="0"/>
              <a:t>Know about security gaps </a:t>
            </a:r>
            <a:br>
              <a:rPr lang="en-US" sz="1800" dirty="0"/>
            </a:br>
            <a:r>
              <a:rPr lang="en-US" sz="1800" dirty="0"/>
              <a:t>before they become an issue</a:t>
            </a:r>
          </a:p>
          <a:p>
            <a:pPr marL="685800" lvl="1" indent="-228600">
              <a:spcBef>
                <a:spcPts val="0"/>
              </a:spcBef>
              <a:buSzPts val="2000"/>
            </a:pPr>
            <a:endParaRPr lang="en-US"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7" name="Google Shape;217;p11">
            <a:extLst>
              <a:ext uri="{FF2B5EF4-FFF2-40B4-BE49-F238E27FC236}">
                <a16:creationId xmlns:a16="http://schemas.microsoft.com/office/drawing/2014/main" id="{E77A8C9A-0566-9541-2FC8-4D25A3B28F13}"/>
              </a:ext>
            </a:extLst>
          </p:cNvPr>
          <p:cNvSpPr txBox="1">
            <a:spLocks/>
          </p:cNvSpPr>
          <p:nvPr/>
        </p:nvSpPr>
        <p:spPr>
          <a:xfrm>
            <a:off x="6242050" y="2124710"/>
            <a:ext cx="4514850" cy="40241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457200" lvl="1" indent="0">
              <a:spcBef>
                <a:spcPts val="0"/>
              </a:spcBef>
              <a:buSzPts val="2000"/>
              <a:buNone/>
            </a:pPr>
            <a:r>
              <a:rPr lang="en-US" dirty="0"/>
              <a:t>Example:</a:t>
            </a:r>
          </a:p>
          <a:p>
            <a:pPr marL="457200" lvl="1" indent="0">
              <a:spcBef>
                <a:spcPts val="0"/>
              </a:spcBef>
              <a:buSzPts val="2000"/>
              <a:buNone/>
            </a:pPr>
            <a:r>
              <a:rPr lang="en-US" dirty="0"/>
              <a:t>Marriott International database hack</a:t>
            </a:r>
          </a:p>
          <a:p>
            <a:pPr marL="457200" lvl="1" indent="0">
              <a:spcBef>
                <a:spcPts val="0"/>
              </a:spcBef>
              <a:buSzPts val="2000"/>
              <a:buNone/>
            </a:pPr>
            <a:r>
              <a:rPr lang="en-US" dirty="0"/>
              <a:t>Date Discovered:</a:t>
            </a:r>
          </a:p>
          <a:p>
            <a:pPr marL="457200" lvl="1" indent="0">
              <a:spcBef>
                <a:spcPts val="0"/>
              </a:spcBef>
              <a:buSzPts val="2000"/>
              <a:buNone/>
            </a:pPr>
            <a:r>
              <a:rPr lang="en-US" dirty="0"/>
              <a:t>September 8, 2018</a:t>
            </a:r>
          </a:p>
          <a:p>
            <a:pPr marL="457200" lvl="1" indent="0">
              <a:spcBef>
                <a:spcPts val="0"/>
              </a:spcBef>
              <a:buSzPts val="2000"/>
              <a:buNone/>
            </a:pPr>
            <a:r>
              <a:rPr lang="en-US" dirty="0"/>
              <a:t>Cost:</a:t>
            </a:r>
          </a:p>
          <a:p>
            <a:pPr marL="457200" lvl="1" indent="0">
              <a:spcBef>
                <a:spcPts val="0"/>
              </a:spcBef>
              <a:buSzPts val="2000"/>
              <a:buNone/>
            </a:pPr>
            <a:r>
              <a:rPr lang="en-US" dirty="0"/>
              <a:t>$276,000,000+ and was forced to implement a strict third party enforced cybersecurity program.</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200000"/>
              </a:lnSpc>
              <a:spcBef>
                <a:spcPts val="0"/>
              </a:spcBef>
              <a:spcAft>
                <a:spcPts val="0"/>
              </a:spcAft>
              <a:buClr>
                <a:schemeClr val="lt1"/>
              </a:buClr>
              <a:buSzPts val="1800"/>
              <a:buChar char="•"/>
            </a:pPr>
            <a:r>
              <a:rPr lang="en-US" sz="2000" dirty="0"/>
              <a:t>Train developers to understand best practices and principles</a:t>
            </a:r>
          </a:p>
          <a:p>
            <a:pPr marL="1143000" lvl="2" indent="-228600" algn="l" rtl="0">
              <a:lnSpc>
                <a:spcPct val="200000"/>
              </a:lnSpc>
              <a:spcBef>
                <a:spcPts val="0"/>
              </a:spcBef>
              <a:spcAft>
                <a:spcPts val="0"/>
              </a:spcAft>
              <a:buClr>
                <a:schemeClr val="lt1"/>
              </a:buClr>
              <a:buSzPts val="1800"/>
              <a:buChar char="•"/>
            </a:pPr>
            <a:r>
              <a:rPr lang="en-US" sz="2000" dirty="0"/>
              <a:t>Implement </a:t>
            </a:r>
            <a:r>
              <a:rPr lang="en-US" sz="2000" dirty="0" err="1"/>
              <a:t>DevSecOps</a:t>
            </a:r>
            <a:r>
              <a:rPr lang="en-US" sz="2000" dirty="0"/>
              <a:t> pipeline</a:t>
            </a:r>
          </a:p>
          <a:p>
            <a:pPr marL="1143000" lvl="2" indent="-228600" algn="l" rtl="0">
              <a:lnSpc>
                <a:spcPct val="200000"/>
              </a:lnSpc>
              <a:spcBef>
                <a:spcPts val="0"/>
              </a:spcBef>
              <a:spcAft>
                <a:spcPts val="0"/>
              </a:spcAft>
              <a:buClr>
                <a:schemeClr val="lt1"/>
              </a:buClr>
              <a:buSzPts val="1800"/>
              <a:buChar char="•"/>
            </a:pPr>
            <a:r>
              <a:rPr lang="en-US" sz="2000" dirty="0"/>
              <a:t>Add automation to the pipeline to improve security</a:t>
            </a:r>
          </a:p>
          <a:p>
            <a:pPr marL="1143000" lvl="2" indent="-228600" algn="l" rtl="0">
              <a:lnSpc>
                <a:spcPct val="200000"/>
              </a:lnSpc>
              <a:spcBef>
                <a:spcPts val="0"/>
              </a:spcBef>
              <a:spcAft>
                <a:spcPts val="0"/>
              </a:spcAft>
              <a:buClr>
                <a:schemeClr val="lt1"/>
              </a:buClr>
              <a:buSzPts val="1800"/>
              <a:buChar char="•"/>
            </a:pPr>
            <a:r>
              <a:rPr lang="en-US" sz="2000" dirty="0"/>
              <a:t>Regularly review and update security plans</a:t>
            </a:r>
            <a:endParaRPr sz="20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lt1"/>
              </a:buClr>
              <a:buSzPts val="2200"/>
              <a:buChar char="•"/>
            </a:pPr>
            <a:r>
              <a:rPr lang="en-US" dirty="0"/>
              <a:t>Security must be a focus from day one of development</a:t>
            </a:r>
          </a:p>
          <a:p>
            <a:pPr marL="228600" lvl="0" indent="-228600" algn="l" rtl="0">
              <a:lnSpc>
                <a:spcPct val="200000"/>
              </a:lnSpc>
              <a:spcBef>
                <a:spcPts val="0"/>
              </a:spcBef>
              <a:spcAft>
                <a:spcPts val="0"/>
              </a:spcAft>
              <a:buClr>
                <a:schemeClr val="lt1"/>
              </a:buClr>
              <a:buSzPts val="2200"/>
              <a:buChar char="•"/>
            </a:pPr>
            <a:r>
              <a:rPr lang="en-US" dirty="0"/>
              <a:t>Reinforce security implementation with automatic checks that halt deployment if they fail</a:t>
            </a:r>
          </a:p>
          <a:p>
            <a:pPr marL="228600" lvl="0" indent="-228600" algn="l" rtl="0">
              <a:lnSpc>
                <a:spcPct val="200000"/>
              </a:lnSpc>
              <a:spcBef>
                <a:spcPts val="0"/>
              </a:spcBef>
              <a:spcAft>
                <a:spcPts val="0"/>
              </a:spcAft>
              <a:buClr>
                <a:schemeClr val="lt1"/>
              </a:buClr>
              <a:buSzPts val="2200"/>
              <a:buChar char="•"/>
            </a:pPr>
            <a:r>
              <a:rPr lang="en-US" dirty="0"/>
              <a:t>Standards and principles should be taught and developed with in mind</a:t>
            </a:r>
          </a:p>
          <a:p>
            <a:pPr marL="228600" lvl="0" indent="-228600" algn="l" rtl="0">
              <a:lnSpc>
                <a:spcPct val="200000"/>
              </a:lnSpc>
              <a:spcBef>
                <a:spcPts val="0"/>
              </a:spcBef>
              <a:spcAft>
                <a:spcPts val="0"/>
              </a:spcAft>
              <a:buClr>
                <a:schemeClr val="lt1"/>
              </a:buClr>
              <a:buSzPts val="2200"/>
              <a:buChar char="•"/>
            </a:pPr>
            <a:r>
              <a:rPr lang="en-US" dirty="0"/>
              <a:t>The benefits of acting immediately greatly outweigh the costs</a:t>
            </a:r>
          </a:p>
          <a:p>
            <a:pPr marL="228600" lvl="0" indent="-228600" algn="l" rtl="0">
              <a:lnSpc>
                <a:spcPct val="90000"/>
              </a:lnSpc>
              <a:spcBef>
                <a:spcPts val="0"/>
              </a:spcBef>
              <a:spcAft>
                <a:spcPts val="0"/>
              </a:spcAft>
              <a:buClr>
                <a:schemeClr val="lt1"/>
              </a:buClr>
              <a:buSzPts val="2200"/>
              <a:buChar char="•"/>
            </a:pPr>
            <a:endParaRPr lang="en-US" sz="1800" dirty="0"/>
          </a:p>
          <a:p>
            <a:pPr marL="228600" lvl="0" indent="-228600" algn="l" rtl="0">
              <a:lnSpc>
                <a:spcPct val="90000"/>
              </a:lnSpc>
              <a:spcBef>
                <a:spcPts val="0"/>
              </a:spcBef>
              <a:spcAft>
                <a:spcPts val="0"/>
              </a:spcAft>
              <a:buClr>
                <a:schemeClr val="lt1"/>
              </a:buClr>
              <a:buSzPts val="2200"/>
              <a:buChar char="•"/>
            </a:pPr>
            <a:endParaRPr sz="1800" dirty="0"/>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err="1"/>
              <a:t>Fruhlinger</a:t>
            </a:r>
            <a:r>
              <a:rPr lang="en-US" dirty="0"/>
              <a:t>, J. (2020, February 12). </a:t>
            </a:r>
            <a:r>
              <a:rPr lang="en-US" i="1" dirty="0"/>
              <a:t>Marriott Data breach FAQ: How did it happen and what was the impact?</a:t>
            </a:r>
            <a:r>
              <a:rPr lang="en-US" dirty="0"/>
              <a:t>. CSO Online. </a:t>
            </a:r>
            <a:r>
              <a:rPr lang="en-US" dirty="0">
                <a:hlinkClick r:id="rId4"/>
              </a:rPr>
              <a:t>https://www.csoonline.com/article/567795/marriott-data-breach-faq-how-did-it-happen-and-what-was-the-impact.html</a:t>
            </a:r>
            <a:r>
              <a:rPr lang="en-US" dirty="0"/>
              <a:t>  </a:t>
            </a:r>
            <a:endParaRPr lang="en-US" dirty="0">
              <a:effectLst/>
            </a:endParaRPr>
          </a:p>
        </p:txBody>
      </p:sp>
      <p:pic>
        <p:nvPicPr>
          <p:cNvPr id="239" name="Google Shape;239;p14"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1532</TotalTime>
  <Words>837</Words>
  <Application>Microsoft Office PowerPoint</Application>
  <PresentationFormat>Widescreen</PresentationFormat>
  <Paragraphs>130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Grier, Michael</cp:lastModifiedBy>
  <cp:revision>10</cp:revision>
  <dcterms:created xsi:type="dcterms:W3CDTF">2020-08-19T17:59:24Z</dcterms:created>
  <dcterms:modified xsi:type="dcterms:W3CDTF">2026-10-26T00:12:11Z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